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3" r:id="rId1"/>
  </p:sldMasterIdLst>
  <p:sldIdLst>
    <p:sldId id="256" r:id="rId2"/>
    <p:sldId id="257" r:id="rId3"/>
    <p:sldId id="273" r:id="rId4"/>
    <p:sldId id="258" r:id="rId5"/>
    <p:sldId id="259" r:id="rId6"/>
    <p:sldId id="260" r:id="rId7"/>
    <p:sldId id="261" r:id="rId8"/>
    <p:sldId id="265" r:id="rId9"/>
    <p:sldId id="271" r:id="rId10"/>
    <p:sldId id="262" r:id="rId11"/>
    <p:sldId id="263" r:id="rId12"/>
    <p:sldId id="264" r:id="rId13"/>
    <p:sldId id="27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095BC09-674D-493A-8F34-AEB3EC52126D}"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E5F67B1-73A8-4AE8-A84C-E71031F34ECE}" type="slidenum">
              <a:rPr lang="en-IN" smtClean="0"/>
              <a:t>‹#›</a:t>
            </a:fld>
            <a:endParaRPr lang="en-IN"/>
          </a:p>
        </p:txBody>
      </p:sp>
    </p:spTree>
    <p:extLst>
      <p:ext uri="{BB962C8B-B14F-4D97-AF65-F5344CB8AC3E}">
        <p14:creationId xmlns:p14="http://schemas.microsoft.com/office/powerpoint/2010/main" val="666840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095BC09-674D-493A-8F34-AEB3EC52126D}"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E5F67B1-73A8-4AE8-A84C-E71031F34ECE}" type="slidenum">
              <a:rPr lang="en-IN" smtClean="0"/>
              <a:t>‹#›</a:t>
            </a:fld>
            <a:endParaRPr lang="en-IN"/>
          </a:p>
        </p:txBody>
      </p:sp>
    </p:spTree>
    <p:extLst>
      <p:ext uri="{BB962C8B-B14F-4D97-AF65-F5344CB8AC3E}">
        <p14:creationId xmlns:p14="http://schemas.microsoft.com/office/powerpoint/2010/main" val="853491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095BC09-674D-493A-8F34-AEB3EC52126D}"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E5F67B1-73A8-4AE8-A84C-E71031F34ECE}" type="slidenum">
              <a:rPr lang="en-IN" smtClean="0"/>
              <a:t>‹#›</a:t>
            </a:fld>
            <a:endParaRPr lang="en-IN"/>
          </a:p>
        </p:txBody>
      </p:sp>
    </p:spTree>
    <p:extLst>
      <p:ext uri="{BB962C8B-B14F-4D97-AF65-F5344CB8AC3E}">
        <p14:creationId xmlns:p14="http://schemas.microsoft.com/office/powerpoint/2010/main" val="156277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095BC09-674D-493A-8F34-AEB3EC52126D}" type="datetimeFigureOut">
              <a:rPr lang="en-IN" smtClean="0"/>
              <a:t>20-03-2025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E5F67B1-73A8-4AE8-A84C-E71031F34ECE}" type="slidenum">
              <a:rPr lang="en-IN" smtClean="0"/>
              <a:t>‹#›</a:t>
            </a:fld>
            <a:endParaRPr lang="en-IN"/>
          </a:p>
        </p:txBody>
      </p:sp>
    </p:spTree>
    <p:extLst>
      <p:ext uri="{BB962C8B-B14F-4D97-AF65-F5344CB8AC3E}">
        <p14:creationId xmlns:p14="http://schemas.microsoft.com/office/powerpoint/2010/main" val="1561655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095BC09-674D-493A-8F34-AEB3EC52126D}" type="datetimeFigureOut">
              <a:rPr lang="en-IN" smtClean="0"/>
              <a:t>20-03-2025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E5F67B1-73A8-4AE8-A84C-E71031F34ECE}" type="slidenum">
              <a:rPr lang="en-IN" smtClean="0"/>
              <a:t>‹#›</a:t>
            </a:fld>
            <a:endParaRPr lang="en-IN"/>
          </a:p>
        </p:txBody>
      </p:sp>
    </p:spTree>
    <p:extLst>
      <p:ext uri="{BB962C8B-B14F-4D97-AF65-F5344CB8AC3E}">
        <p14:creationId xmlns:p14="http://schemas.microsoft.com/office/powerpoint/2010/main" val="1277726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095BC09-674D-493A-8F34-AEB3EC52126D}" type="datetimeFigureOut">
              <a:rPr lang="en-IN" smtClean="0"/>
              <a:t>20-03-2025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E5F67B1-73A8-4AE8-A84C-E71031F34ECE}" type="slidenum">
              <a:rPr lang="en-IN" smtClean="0"/>
              <a:t>‹#›</a:t>
            </a:fld>
            <a:endParaRPr lang="en-IN"/>
          </a:p>
        </p:txBody>
      </p:sp>
    </p:spTree>
    <p:extLst>
      <p:ext uri="{BB962C8B-B14F-4D97-AF65-F5344CB8AC3E}">
        <p14:creationId xmlns:p14="http://schemas.microsoft.com/office/powerpoint/2010/main" val="1404945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95BC09-674D-493A-8F34-AEB3EC52126D}" type="datetimeFigureOut">
              <a:rPr lang="en-IN" smtClean="0"/>
              <a:t>20-03-2025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E5F67B1-73A8-4AE8-A84C-E71031F34ECE}" type="slidenum">
              <a:rPr lang="en-IN" smtClean="0"/>
              <a:t>‹#›</a:t>
            </a:fld>
            <a:endParaRPr lang="en-IN"/>
          </a:p>
        </p:txBody>
      </p:sp>
    </p:spTree>
    <p:extLst>
      <p:ext uri="{BB962C8B-B14F-4D97-AF65-F5344CB8AC3E}">
        <p14:creationId xmlns:p14="http://schemas.microsoft.com/office/powerpoint/2010/main" val="3558840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095BC09-674D-493A-8F34-AEB3EC52126D}" type="datetimeFigureOut">
              <a:rPr lang="en-IN" smtClean="0"/>
              <a:t>20-03-2025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E5F67B1-73A8-4AE8-A84C-E71031F34ECE}" type="slidenum">
              <a:rPr lang="en-IN" smtClean="0"/>
              <a:t>‹#›</a:t>
            </a:fld>
            <a:endParaRPr lang="en-IN"/>
          </a:p>
        </p:txBody>
      </p:sp>
    </p:spTree>
    <p:extLst>
      <p:ext uri="{BB962C8B-B14F-4D97-AF65-F5344CB8AC3E}">
        <p14:creationId xmlns:p14="http://schemas.microsoft.com/office/powerpoint/2010/main" val="3577370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095BC09-674D-493A-8F34-AEB3EC52126D}" type="datetimeFigureOut">
              <a:rPr lang="en-IN" smtClean="0"/>
              <a:t>20-03-2025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E5F67B1-73A8-4AE8-A84C-E71031F34ECE}" type="slidenum">
              <a:rPr lang="en-IN" smtClean="0"/>
              <a:t>‹#›</a:t>
            </a:fld>
            <a:endParaRPr lang="en-IN"/>
          </a:p>
        </p:txBody>
      </p:sp>
    </p:spTree>
    <p:extLst>
      <p:ext uri="{BB962C8B-B14F-4D97-AF65-F5344CB8AC3E}">
        <p14:creationId xmlns:p14="http://schemas.microsoft.com/office/powerpoint/2010/main" val="2356125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095BC09-674D-493A-8F34-AEB3EC52126D}"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E5F67B1-73A8-4AE8-A84C-E71031F34ECE}" type="slidenum">
              <a:rPr lang="en-IN" smtClean="0"/>
              <a:t>‹#›</a:t>
            </a:fld>
            <a:endParaRPr lang="en-IN"/>
          </a:p>
        </p:txBody>
      </p:sp>
    </p:spTree>
    <p:extLst>
      <p:ext uri="{BB962C8B-B14F-4D97-AF65-F5344CB8AC3E}">
        <p14:creationId xmlns:p14="http://schemas.microsoft.com/office/powerpoint/2010/main" val="3761890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095BC09-674D-493A-8F34-AEB3EC52126D}"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E5F67B1-73A8-4AE8-A84C-E71031F34ECE}"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322789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A095BC09-674D-493A-8F34-AEB3EC52126D}" type="datetimeFigureOut">
              <a:rPr lang="en-IN" smtClean="0"/>
              <a:t>20-03-2025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E5F67B1-73A8-4AE8-A84C-E71031F34ECE}" type="slidenum">
              <a:rPr lang="en-IN" smtClean="0"/>
              <a:t>‹#›</a:t>
            </a:fld>
            <a:endParaRPr lang="en-IN"/>
          </a:p>
        </p:txBody>
      </p:sp>
    </p:spTree>
    <p:extLst>
      <p:ext uri="{BB962C8B-B14F-4D97-AF65-F5344CB8AC3E}">
        <p14:creationId xmlns:p14="http://schemas.microsoft.com/office/powerpoint/2010/main" val="25265754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A095BC09-674D-493A-8F34-AEB3EC52126D}" type="datetimeFigureOut">
              <a:rPr lang="en-IN" smtClean="0"/>
              <a:t>20-03-2025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E5F67B1-73A8-4AE8-A84C-E71031F34ECE}"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59138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A095BC09-674D-493A-8F34-AEB3EC52126D}" type="datetimeFigureOut">
              <a:rPr lang="en-IN" smtClean="0"/>
              <a:t>20-03-2025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E5F67B1-73A8-4AE8-A84C-E71031F34ECE}" type="slidenum">
              <a:rPr lang="en-IN" smtClean="0"/>
              <a:t>‹#›</a:t>
            </a:fld>
            <a:endParaRPr lang="en-IN"/>
          </a:p>
        </p:txBody>
      </p:sp>
    </p:spTree>
    <p:extLst>
      <p:ext uri="{BB962C8B-B14F-4D97-AF65-F5344CB8AC3E}">
        <p14:creationId xmlns:p14="http://schemas.microsoft.com/office/powerpoint/2010/main" val="15484180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095BC09-674D-493A-8F34-AEB3EC52126D}"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E5F67B1-73A8-4AE8-A84C-E71031F34ECE}" type="slidenum">
              <a:rPr lang="en-IN" smtClean="0"/>
              <a:t>‹#›</a:t>
            </a:fld>
            <a:endParaRPr lang="en-IN"/>
          </a:p>
        </p:txBody>
      </p:sp>
    </p:spTree>
    <p:extLst>
      <p:ext uri="{BB962C8B-B14F-4D97-AF65-F5344CB8AC3E}">
        <p14:creationId xmlns:p14="http://schemas.microsoft.com/office/powerpoint/2010/main" val="21204034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095BC09-674D-493A-8F34-AEB3EC52126D}"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E5F67B1-73A8-4AE8-A84C-E71031F34ECE}" type="slidenum">
              <a:rPr lang="en-IN" smtClean="0"/>
              <a:t>‹#›</a:t>
            </a:fld>
            <a:endParaRPr lang="en-IN"/>
          </a:p>
        </p:txBody>
      </p:sp>
    </p:spTree>
    <p:extLst>
      <p:ext uri="{BB962C8B-B14F-4D97-AF65-F5344CB8AC3E}">
        <p14:creationId xmlns:p14="http://schemas.microsoft.com/office/powerpoint/2010/main" val="1187819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095BC09-674D-493A-8F34-AEB3EC52126D}" type="datetimeFigureOut">
              <a:rPr lang="en-IN" smtClean="0"/>
              <a:t>20-03-2025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E5F67B1-73A8-4AE8-A84C-E71031F34ECE}" type="slidenum">
              <a:rPr lang="en-IN" smtClean="0"/>
              <a:t>‹#›</a:t>
            </a:fld>
            <a:endParaRPr lang="en-IN"/>
          </a:p>
        </p:txBody>
      </p:sp>
    </p:spTree>
    <p:extLst>
      <p:ext uri="{BB962C8B-B14F-4D97-AF65-F5344CB8AC3E}">
        <p14:creationId xmlns:p14="http://schemas.microsoft.com/office/powerpoint/2010/main" val="545054503"/>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 id="2147483826" r:id="rId13"/>
    <p:sldLayoutId id="2147483827" r:id="rId14"/>
    <p:sldLayoutId id="2147483828" r:id="rId15"/>
    <p:sldLayoutId id="214748382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oAutofit/>
          </a:bodyPr>
          <a:lstStyle/>
          <a:p>
            <a:r>
              <a:rPr lang="en-IN" sz="8000" b="1" dirty="0" smtClean="0"/>
              <a:t>INTERNSHIP PRESENTATION</a:t>
            </a:r>
            <a:endParaRPr lang="en-IN" sz="8000" b="1" dirty="0"/>
          </a:p>
        </p:txBody>
      </p:sp>
    </p:spTree>
    <p:extLst>
      <p:ext uri="{BB962C8B-B14F-4D97-AF65-F5344CB8AC3E}">
        <p14:creationId xmlns:p14="http://schemas.microsoft.com/office/powerpoint/2010/main" val="3723870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Company:</a:t>
            </a:r>
            <a:r>
              <a:rPr lang="en-IN" dirty="0" smtClean="0"/>
              <a:t/>
            </a:r>
            <a:br>
              <a:rPr lang="en-IN" dirty="0" smtClean="0"/>
            </a:br>
            <a:r>
              <a:rPr lang="en-IN" dirty="0" smtClean="0"/>
              <a:t>veblogy innovative technology </a:t>
            </a:r>
            <a:r>
              <a:rPr lang="en-IN" dirty="0" err="1" smtClean="0"/>
              <a:t>pvt</a:t>
            </a:r>
            <a:r>
              <a:rPr lang="en-IN" dirty="0" smtClean="0"/>
              <a:t> ltd</a:t>
            </a:r>
            <a:br>
              <a:rPr lang="en-IN" dirty="0" smtClean="0"/>
            </a:br>
            <a:r>
              <a:rPr lang="en-IN" dirty="0" smtClean="0"/>
              <a:t/>
            </a:r>
            <a:br>
              <a:rPr lang="en-IN" dirty="0" smtClean="0"/>
            </a:br>
            <a:r>
              <a:rPr lang="en-IN" b="1" dirty="0" smtClean="0"/>
              <a:t>duration of internship:</a:t>
            </a:r>
            <a:r>
              <a:rPr lang="en-IN" dirty="0" smtClean="0"/>
              <a:t/>
            </a:r>
            <a:br>
              <a:rPr lang="en-IN" dirty="0" smtClean="0"/>
            </a:br>
            <a:r>
              <a:rPr lang="en-IN" dirty="0" smtClean="0"/>
              <a:t>1 month</a:t>
            </a:r>
            <a:br>
              <a:rPr lang="en-IN" dirty="0" smtClean="0"/>
            </a:br>
            <a:r>
              <a:rPr lang="en-IN" b="1" dirty="0"/>
              <a:t/>
            </a:r>
            <a:br>
              <a:rPr lang="en-IN" b="1" dirty="0"/>
            </a:br>
            <a:r>
              <a:rPr lang="en-IN" b="1" dirty="0" smtClean="0"/>
              <a:t>Worked under:</a:t>
            </a:r>
            <a:r>
              <a:rPr lang="en-IN" dirty="0" smtClean="0"/>
              <a:t/>
            </a:r>
            <a:br>
              <a:rPr lang="en-IN" dirty="0" smtClean="0"/>
            </a:br>
            <a:r>
              <a:rPr lang="en-IN" dirty="0" smtClean="0"/>
              <a:t>Manoj </a:t>
            </a:r>
            <a:r>
              <a:rPr lang="en-IN" dirty="0" err="1" smtClean="0"/>
              <a:t>Gunjikar</a:t>
            </a:r>
            <a:r>
              <a:rPr lang="en-IN" dirty="0" smtClean="0"/>
              <a:t>(Team leader)</a:t>
            </a:r>
            <a:endParaRPr lang="en-IN" dirty="0"/>
          </a:p>
        </p:txBody>
      </p:sp>
    </p:spTree>
    <p:extLst>
      <p:ext uri="{BB962C8B-B14F-4D97-AF65-F5344CB8AC3E}">
        <p14:creationId xmlns:p14="http://schemas.microsoft.com/office/powerpoint/2010/main" val="515157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Learnings</a:t>
            </a:r>
            <a:endParaRPr lang="en-IN" b="1" dirty="0"/>
          </a:p>
        </p:txBody>
      </p:sp>
      <p:sp>
        <p:nvSpPr>
          <p:cNvPr id="3" name="Content Placeholder 2"/>
          <p:cNvSpPr>
            <a:spLocks noGrp="1"/>
          </p:cNvSpPr>
          <p:nvPr>
            <p:ph idx="1"/>
          </p:nvPr>
        </p:nvSpPr>
        <p:spPr>
          <a:xfrm>
            <a:off x="2589212" y="1905000"/>
            <a:ext cx="8915400" cy="4904509"/>
          </a:xfrm>
        </p:spPr>
        <p:txBody>
          <a:bodyPr/>
          <a:lstStyle/>
          <a:p>
            <a:r>
              <a:rPr lang="en-IN" dirty="0" err="1" smtClean="0"/>
              <a:t>Iot</a:t>
            </a:r>
            <a:endParaRPr lang="en-IN" dirty="0" smtClean="0"/>
          </a:p>
          <a:p>
            <a:r>
              <a:rPr lang="en-IN" dirty="0" smtClean="0"/>
              <a:t>Architecture and applications</a:t>
            </a:r>
          </a:p>
          <a:p>
            <a:r>
              <a:rPr lang="en-IN" dirty="0" smtClean="0"/>
              <a:t>Arduino interfacing with various components</a:t>
            </a:r>
          </a:p>
          <a:p>
            <a:r>
              <a:rPr lang="en-IN" dirty="0" smtClean="0"/>
              <a:t>Understanding circuit design and wirings</a:t>
            </a:r>
          </a:p>
          <a:p>
            <a:r>
              <a:rPr lang="en-IN" dirty="0" smtClean="0"/>
              <a:t>Understanding </a:t>
            </a:r>
            <a:r>
              <a:rPr lang="en-IN" dirty="0" err="1" smtClean="0"/>
              <a:t>iot</a:t>
            </a:r>
            <a:r>
              <a:rPr lang="en-IN" dirty="0" smtClean="0"/>
              <a:t> protocols like HTTP MQTT</a:t>
            </a:r>
          </a:p>
          <a:p>
            <a:r>
              <a:rPr lang="en-IN" dirty="0" smtClean="0"/>
              <a:t>Understanding </a:t>
            </a:r>
            <a:r>
              <a:rPr lang="en-IN" dirty="0" err="1" smtClean="0"/>
              <a:t>iot</a:t>
            </a:r>
            <a:r>
              <a:rPr lang="en-IN" dirty="0" smtClean="0"/>
              <a:t> platforms like </a:t>
            </a:r>
            <a:r>
              <a:rPr lang="en-IN" dirty="0" err="1" smtClean="0"/>
              <a:t>Blynk</a:t>
            </a:r>
            <a:r>
              <a:rPr lang="en-IN" dirty="0" smtClean="0"/>
              <a:t> ,</a:t>
            </a:r>
            <a:r>
              <a:rPr lang="en-IN" dirty="0" err="1" smtClean="0"/>
              <a:t>thinkspeak</a:t>
            </a:r>
            <a:endParaRPr lang="en-IN" dirty="0" smtClean="0"/>
          </a:p>
          <a:p>
            <a:r>
              <a:rPr lang="en-IN" dirty="0" smtClean="0"/>
              <a:t>Arduino programming using c/</a:t>
            </a:r>
            <a:r>
              <a:rPr lang="en-IN" dirty="0" err="1" smtClean="0"/>
              <a:t>c++</a:t>
            </a:r>
            <a:r>
              <a:rPr lang="en-IN" dirty="0" smtClean="0"/>
              <a:t> </a:t>
            </a:r>
            <a:endParaRPr lang="en-IN" dirty="0"/>
          </a:p>
        </p:txBody>
      </p:sp>
    </p:spTree>
    <p:extLst>
      <p:ext uri="{BB962C8B-B14F-4D97-AF65-F5344CB8AC3E}">
        <p14:creationId xmlns:p14="http://schemas.microsoft.com/office/powerpoint/2010/main" val="1429392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7200" b="1" dirty="0" smtClean="0"/>
              <a:t/>
            </a:r>
            <a:br>
              <a:rPr lang="en-IN" sz="7200" b="1" dirty="0" smtClean="0"/>
            </a:br>
            <a:r>
              <a:rPr lang="en-IN" sz="7200" b="1" dirty="0" smtClean="0"/>
              <a:t>OTP Based smart locking system using Arduino</a:t>
            </a:r>
            <a:r>
              <a:rPr lang="en-IN" dirty="0" smtClean="0"/>
              <a:t>.</a:t>
            </a:r>
            <a:endParaRPr lang="en-IN" dirty="0"/>
          </a:p>
        </p:txBody>
      </p:sp>
    </p:spTree>
    <p:extLst>
      <p:ext uri="{BB962C8B-B14F-4D97-AF65-F5344CB8AC3E}">
        <p14:creationId xmlns:p14="http://schemas.microsoft.com/office/powerpoint/2010/main" val="144077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8198" y="217710"/>
            <a:ext cx="8911687" cy="1280890"/>
          </a:xfrm>
        </p:spPr>
        <p:txBody>
          <a:bodyPr/>
          <a:lstStyle/>
          <a:p>
            <a:r>
              <a:rPr lang="en-IN" b="1" dirty="0" smtClean="0"/>
              <a:t>Introduction:</a:t>
            </a:r>
            <a:endParaRPr lang="en-IN" b="1" dirty="0"/>
          </a:p>
        </p:txBody>
      </p:sp>
      <p:sp>
        <p:nvSpPr>
          <p:cNvPr id="3" name="Content Placeholder 2"/>
          <p:cNvSpPr>
            <a:spLocks noGrp="1"/>
          </p:cNvSpPr>
          <p:nvPr>
            <p:ph idx="1"/>
          </p:nvPr>
        </p:nvSpPr>
        <p:spPr>
          <a:xfrm>
            <a:off x="2524557" y="1209964"/>
            <a:ext cx="8915400" cy="4793672"/>
          </a:xfrm>
        </p:spPr>
        <p:txBody>
          <a:bodyPr>
            <a:normAutofit/>
          </a:bodyPr>
          <a:lstStyle/>
          <a:p>
            <a:pPr marL="0" indent="0">
              <a:buNone/>
            </a:pPr>
            <a:r>
              <a:rPr lang="en-US" sz="2000" dirty="0"/>
              <a:t>In today's technologically advanced world, security plays a crucial role in safeguarding our belongings. Traditional mechanical locks are no longer sufficient to meet the increasing demands for enhanced security and convenience</a:t>
            </a:r>
            <a:r>
              <a:rPr lang="en-US" sz="2000" dirty="0" smtClean="0"/>
              <a:t>.</a:t>
            </a:r>
          </a:p>
          <a:p>
            <a:pPr marL="0" indent="0">
              <a:buNone/>
            </a:pPr>
            <a:r>
              <a:rPr lang="en-US" sz="2000" dirty="0" smtClean="0"/>
              <a:t> </a:t>
            </a:r>
            <a:r>
              <a:rPr lang="en-US" sz="2000" dirty="0"/>
              <a:t>As a result, innovative solutions like the OTP (One-Time Password) based smart wireless locking system have emerged. This system eliminates the need for physical keys and instead relies on a unique one-time password generated for each access </a:t>
            </a:r>
            <a:r>
              <a:rPr lang="en-US" sz="2000" dirty="0" smtClean="0"/>
              <a:t>attempt. Firstly</a:t>
            </a:r>
            <a:r>
              <a:rPr lang="en-US" sz="2000" dirty="0"/>
              <a:t>, the OTP ensures a higher level of security by utilizing unique passwords for every authentication attempt, minimizing the risk of unauthorized access</a:t>
            </a:r>
            <a:r>
              <a:rPr lang="en-US" sz="2000" dirty="0" smtClean="0"/>
              <a:t>.</a:t>
            </a:r>
          </a:p>
          <a:p>
            <a:pPr marL="0" indent="0">
              <a:buNone/>
            </a:pPr>
            <a:r>
              <a:rPr lang="en-US" sz="2000" dirty="0" smtClean="0"/>
              <a:t> </a:t>
            </a:r>
            <a:r>
              <a:rPr lang="en-US" sz="2000" dirty="0"/>
              <a:t>The OTP-Based Smart Wireless Locking System using Arduino offers a reliable, secure, and user-friendly solution for modern access control needs</a:t>
            </a:r>
            <a:endParaRPr lang="en-IN" sz="2000" dirty="0"/>
          </a:p>
          <a:p>
            <a:pPr marL="0" indent="0">
              <a:buNone/>
            </a:pPr>
            <a:endParaRPr lang="en-IN" dirty="0"/>
          </a:p>
        </p:txBody>
      </p:sp>
    </p:spTree>
    <p:extLst>
      <p:ext uri="{BB962C8B-B14F-4D97-AF65-F5344CB8AC3E}">
        <p14:creationId xmlns:p14="http://schemas.microsoft.com/office/powerpoint/2010/main" val="3374632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10521" y="295563"/>
            <a:ext cx="8915400" cy="6142181"/>
          </a:xfrm>
        </p:spPr>
        <p:txBody>
          <a:bodyPr>
            <a:normAutofit fontScale="92500" lnSpcReduction="10000"/>
          </a:bodyPr>
          <a:lstStyle/>
          <a:p>
            <a:pPr marL="0" indent="0">
              <a:buNone/>
            </a:pPr>
            <a:r>
              <a:rPr lang="en-IN" sz="5100" b="1" dirty="0"/>
              <a:t>Objectives</a:t>
            </a:r>
            <a:r>
              <a:rPr lang="en-IN" sz="5100" b="1" dirty="0" smtClean="0"/>
              <a:t>:</a:t>
            </a:r>
          </a:p>
          <a:p>
            <a:pPr marL="0" indent="0">
              <a:buNone/>
            </a:pPr>
            <a:endParaRPr lang="en-IN" sz="5100" b="1" dirty="0" smtClean="0"/>
          </a:p>
          <a:p>
            <a:pPr lvl="0"/>
            <a:r>
              <a:rPr lang="en-US" b="1" dirty="0"/>
              <a:t>Enhance Security Features</a:t>
            </a:r>
            <a:r>
              <a:rPr lang="en-US" dirty="0"/>
              <a:t>:</a:t>
            </a:r>
            <a:endParaRPr lang="en-IN" sz="1600" dirty="0"/>
          </a:p>
          <a:p>
            <a:pPr marL="457200" lvl="1" indent="0">
              <a:buNone/>
            </a:pPr>
            <a:r>
              <a:rPr lang="en-US" dirty="0"/>
              <a:t>Ensure that the OTP system cannot be easily bypassed or compromised. Include features such as OTP expiration and attempts limitation to reduce the risk of unauthorized access</a:t>
            </a:r>
            <a:r>
              <a:rPr lang="en-US" dirty="0" smtClean="0"/>
              <a:t>.</a:t>
            </a:r>
            <a:endParaRPr lang="en-IN" sz="5100" b="1" dirty="0"/>
          </a:p>
          <a:p>
            <a:pPr lvl="0"/>
            <a:r>
              <a:rPr lang="en-US" b="1" dirty="0"/>
              <a:t>Design and Develop an </a:t>
            </a:r>
            <a:r>
              <a:rPr lang="en-US" b="1" dirty="0" err="1"/>
              <a:t>IoT</a:t>
            </a:r>
            <a:r>
              <a:rPr lang="en-US" b="1" dirty="0"/>
              <a:t>-based OTP Locking System</a:t>
            </a:r>
            <a:r>
              <a:rPr lang="en-US" dirty="0"/>
              <a:t>:</a:t>
            </a:r>
            <a:endParaRPr lang="en-IN" sz="1600" dirty="0"/>
          </a:p>
          <a:p>
            <a:pPr marL="457200" lvl="1" indent="0">
              <a:buNone/>
            </a:pPr>
            <a:r>
              <a:rPr lang="en-US" dirty="0"/>
              <a:t>Integrate Arduino with </a:t>
            </a:r>
            <a:r>
              <a:rPr lang="en-US" dirty="0" err="1"/>
              <a:t>IoT</a:t>
            </a:r>
            <a:r>
              <a:rPr lang="en-US" dirty="0"/>
              <a:t> components (e.g., GSM module, keypad </a:t>
            </a:r>
            <a:r>
              <a:rPr lang="en-US" dirty="0" err="1"/>
              <a:t>etc</a:t>
            </a:r>
            <a:r>
              <a:rPr lang="en-US" dirty="0"/>
              <a:t>) to create a functional and secure locking system.</a:t>
            </a:r>
            <a:endParaRPr lang="en-IN" sz="1200" dirty="0"/>
          </a:p>
          <a:p>
            <a:pPr lvl="0"/>
            <a:r>
              <a:rPr lang="en-US" b="1" dirty="0"/>
              <a:t>Generate and Validate OTPs Securely</a:t>
            </a:r>
            <a:r>
              <a:rPr lang="en-US" dirty="0"/>
              <a:t>:</a:t>
            </a:r>
            <a:endParaRPr lang="en-IN" sz="1600" dirty="0"/>
          </a:p>
          <a:p>
            <a:pPr marL="457200" lvl="1" indent="0">
              <a:buNone/>
            </a:pPr>
            <a:r>
              <a:rPr lang="en-US" dirty="0"/>
              <a:t>Implement OTP generation and validation logic through GSM module to ensure that each access request is validated with a unique, time-sensitive password.</a:t>
            </a:r>
            <a:endParaRPr lang="en-IN" sz="1200" dirty="0"/>
          </a:p>
          <a:p>
            <a:pPr lvl="0"/>
            <a:r>
              <a:rPr lang="en-US" b="1" dirty="0"/>
              <a:t>Enable Remote Locking and Unlocking</a:t>
            </a:r>
            <a:r>
              <a:rPr lang="en-US" dirty="0"/>
              <a:t>:</a:t>
            </a:r>
            <a:endParaRPr lang="en-IN" sz="1600" dirty="0"/>
          </a:p>
          <a:p>
            <a:pPr marL="457200" lvl="1" indent="0">
              <a:buNone/>
            </a:pPr>
            <a:r>
              <a:rPr lang="en-US" dirty="0"/>
              <a:t>Use SMS OTP delivery to enable remote authentication and control of the locking system, providing users with a convenient and secure method of access.</a:t>
            </a:r>
            <a:endParaRPr lang="en-IN" sz="1200" dirty="0"/>
          </a:p>
          <a:p>
            <a:pPr lvl="0"/>
            <a:r>
              <a:rPr lang="en-US" b="1" dirty="0" smtClean="0"/>
              <a:t>Ensure </a:t>
            </a:r>
            <a:r>
              <a:rPr lang="en-US" b="1" dirty="0"/>
              <a:t>Real-time Functionality</a:t>
            </a:r>
            <a:r>
              <a:rPr lang="en-US" dirty="0"/>
              <a:t>:</a:t>
            </a:r>
            <a:endParaRPr lang="en-IN" sz="1600" dirty="0"/>
          </a:p>
          <a:p>
            <a:pPr marL="457200" lvl="1" indent="0">
              <a:buNone/>
            </a:pPr>
            <a:r>
              <a:rPr lang="en-US" dirty="0"/>
              <a:t>Develop the system to respond in real-time to user inputs (i.e., entering OTPs on the keypad), with minimal delay between OTP generation and access authorization</a:t>
            </a:r>
            <a:endParaRPr lang="en-IN" sz="1200" dirty="0"/>
          </a:p>
          <a:p>
            <a:endParaRPr lang="en-IN" dirty="0"/>
          </a:p>
        </p:txBody>
      </p:sp>
    </p:spTree>
    <p:extLst>
      <p:ext uri="{BB962C8B-B14F-4D97-AF65-F5344CB8AC3E}">
        <p14:creationId xmlns:p14="http://schemas.microsoft.com/office/powerpoint/2010/main" val="2833698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65940" y="498763"/>
            <a:ext cx="8915400" cy="5255492"/>
          </a:xfrm>
        </p:spPr>
        <p:txBody>
          <a:bodyPr>
            <a:normAutofit/>
          </a:bodyPr>
          <a:lstStyle/>
          <a:p>
            <a:pPr marL="0" lvl="0" indent="0">
              <a:buNone/>
            </a:pPr>
            <a:r>
              <a:rPr lang="en-US" sz="4000" b="1" dirty="0"/>
              <a:t>Motivation </a:t>
            </a:r>
            <a:endParaRPr lang="en-IN" sz="4000" dirty="0"/>
          </a:p>
          <a:p>
            <a:pPr marL="0" indent="0">
              <a:buNone/>
            </a:pPr>
            <a:endParaRPr lang="en-IN" dirty="0"/>
          </a:p>
          <a:p>
            <a:pPr marL="0" indent="0">
              <a:buNone/>
            </a:pPr>
            <a:r>
              <a:rPr lang="en-US" sz="2800" dirty="0"/>
              <a:t>The motivation behind developing an </a:t>
            </a:r>
            <a:r>
              <a:rPr lang="en-US" sz="2800" dirty="0" err="1"/>
              <a:t>IoT</a:t>
            </a:r>
            <a:r>
              <a:rPr lang="en-US" sz="2800" dirty="0"/>
              <a:t>-based OTP (One-Time Password) Locking System using Arduino </a:t>
            </a:r>
            <a:r>
              <a:rPr lang="en-US" sz="2800" dirty="0" smtClean="0"/>
              <a:t>systems </a:t>
            </a:r>
            <a:r>
              <a:rPr lang="en-US" sz="2800" dirty="0"/>
              <a:t>from the growing need for secure, convenient, and modern access control systems. </a:t>
            </a:r>
            <a:endParaRPr lang="en-US" sz="2800" dirty="0" smtClean="0"/>
          </a:p>
          <a:p>
            <a:pPr marL="0" indent="0">
              <a:buNone/>
            </a:pPr>
            <a:r>
              <a:rPr lang="en-US" sz="2800" dirty="0" smtClean="0"/>
              <a:t>Traditional </a:t>
            </a:r>
            <a:r>
              <a:rPr lang="en-US" sz="2800" dirty="0"/>
              <a:t>lock systems, relying on physical keys or static passwords, are becoming increasingly vulnerable to security breaches, such as unauthorized duplication or hacking.</a:t>
            </a:r>
            <a:endParaRPr lang="en-IN" sz="2800" dirty="0"/>
          </a:p>
          <a:p>
            <a:endParaRPr lang="en-IN" sz="2800" dirty="0"/>
          </a:p>
        </p:txBody>
      </p:sp>
    </p:spTree>
    <p:extLst>
      <p:ext uri="{BB962C8B-B14F-4D97-AF65-F5344CB8AC3E}">
        <p14:creationId xmlns:p14="http://schemas.microsoft.com/office/powerpoint/2010/main" val="3873766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50666" y="153056"/>
            <a:ext cx="8911687" cy="1280890"/>
          </a:xfrm>
        </p:spPr>
        <p:txBody>
          <a:bodyPr>
            <a:normAutofit/>
          </a:bodyPr>
          <a:lstStyle/>
          <a:p>
            <a:r>
              <a:rPr lang="en-IN" sz="3200" b="1" dirty="0" smtClean="0"/>
              <a:t>Components required:</a:t>
            </a:r>
            <a:endParaRPr lang="en-IN" sz="3200" b="1" dirty="0"/>
          </a:p>
        </p:txBody>
      </p:sp>
      <p:sp>
        <p:nvSpPr>
          <p:cNvPr id="3" name="Content Placeholder 2"/>
          <p:cNvSpPr>
            <a:spLocks noGrp="1"/>
          </p:cNvSpPr>
          <p:nvPr>
            <p:ph idx="1"/>
          </p:nvPr>
        </p:nvSpPr>
        <p:spPr>
          <a:xfrm>
            <a:off x="2450666" y="959755"/>
            <a:ext cx="8915400" cy="6891155"/>
          </a:xfrm>
        </p:spPr>
        <p:txBody>
          <a:bodyPr>
            <a:normAutofit fontScale="77500" lnSpcReduction="20000"/>
          </a:bodyPr>
          <a:lstStyle/>
          <a:p>
            <a:pPr marL="0" indent="0">
              <a:buNone/>
            </a:pPr>
            <a:r>
              <a:rPr lang="en-IN" sz="1900" b="1" dirty="0" smtClean="0"/>
              <a:t>ARDUINO UNO:</a:t>
            </a:r>
          </a:p>
          <a:p>
            <a:pPr marL="0" indent="0">
              <a:buNone/>
            </a:pPr>
            <a:r>
              <a:rPr lang="en-IN" dirty="0"/>
              <a:t>Arduino Uno is a popular microcontroller board that is part of the Arduino family. It is widely used in various electronic projects and prototyping due to its simplicity and </a:t>
            </a:r>
            <a:r>
              <a:rPr lang="en-IN" dirty="0" smtClean="0"/>
              <a:t>versatility</a:t>
            </a:r>
          </a:p>
          <a:p>
            <a:pPr marL="0" indent="0">
              <a:buNone/>
            </a:pPr>
            <a:endParaRPr lang="en-IN" dirty="0" smtClean="0"/>
          </a:p>
          <a:p>
            <a:pPr marL="0" indent="0">
              <a:buNone/>
            </a:pPr>
            <a:r>
              <a:rPr lang="en-IN" b="1" dirty="0" smtClean="0"/>
              <a:t>16×2 </a:t>
            </a:r>
            <a:r>
              <a:rPr lang="en-IN" b="1" dirty="0"/>
              <a:t>LCD Module </a:t>
            </a:r>
            <a:r>
              <a:rPr lang="en-IN" b="1" dirty="0" smtClean="0"/>
              <a:t>With I2C</a:t>
            </a:r>
            <a:endParaRPr lang="en-IN" b="1" dirty="0"/>
          </a:p>
          <a:p>
            <a:pPr marL="0" indent="0">
              <a:buNone/>
            </a:pPr>
            <a:r>
              <a:rPr lang="en-IN" dirty="0" smtClean="0"/>
              <a:t>A </a:t>
            </a:r>
            <a:r>
              <a:rPr lang="en-IN" dirty="0"/>
              <a:t>16×2 LCD refers to a liquid crystal display with two rows and 16 characters per row. It is a commonly used alphanumeric display in many electronic projects and devices. The I2C (Inter-Integrated Circuit) interface is a communication protocol that allows for easy and efficient communication between microcontrollers</a:t>
            </a:r>
            <a:r>
              <a:rPr lang="en-IN" dirty="0" smtClean="0"/>
              <a:t>.</a:t>
            </a:r>
          </a:p>
          <a:p>
            <a:pPr marL="0" indent="0">
              <a:buNone/>
            </a:pPr>
            <a:endParaRPr lang="en-IN" dirty="0"/>
          </a:p>
          <a:p>
            <a:pPr marL="0" indent="0">
              <a:buNone/>
            </a:pPr>
            <a:r>
              <a:rPr lang="en-IN" b="1" dirty="0"/>
              <a:t>Relay </a:t>
            </a:r>
            <a:r>
              <a:rPr lang="en-IN" b="1" dirty="0" smtClean="0"/>
              <a:t>module</a:t>
            </a:r>
          </a:p>
          <a:p>
            <a:pPr marL="0" indent="0">
              <a:buNone/>
            </a:pPr>
            <a:r>
              <a:rPr lang="en-IN" dirty="0"/>
              <a:t>It provides a convenient way to control higher voltage or current loads using a lower voltage signal, such as the output from a microcontroller or </a:t>
            </a:r>
            <a:r>
              <a:rPr lang="en-IN" dirty="0" smtClean="0"/>
              <a:t>Arduino</a:t>
            </a:r>
          </a:p>
          <a:p>
            <a:pPr marL="0" indent="0">
              <a:buNone/>
            </a:pPr>
            <a:endParaRPr lang="en-IN" dirty="0" smtClean="0"/>
          </a:p>
          <a:p>
            <a:pPr marL="0" indent="0">
              <a:buNone/>
            </a:pPr>
            <a:r>
              <a:rPr lang="en-IN" b="1" dirty="0"/>
              <a:t>4×4 </a:t>
            </a:r>
            <a:r>
              <a:rPr lang="en-IN" b="1" dirty="0" smtClean="0"/>
              <a:t>keypad</a:t>
            </a:r>
            <a:endParaRPr lang="en-IN" b="1" dirty="0"/>
          </a:p>
          <a:p>
            <a:pPr marL="0" indent="0">
              <a:buNone/>
            </a:pPr>
            <a:r>
              <a:rPr lang="en-IN" dirty="0"/>
              <a:t>A 4×4 keypad, also known as a matrix keypad, is a commonly used input device that provides a convenient interface for entering numerical or alphanumeric data. It consists of a grid of buttons arranged in a 4 by 4 configuration, where each button represents a specific input</a:t>
            </a:r>
            <a:r>
              <a:rPr lang="en-IN" dirty="0" smtClean="0"/>
              <a:t>.</a:t>
            </a:r>
          </a:p>
          <a:p>
            <a:pPr marL="0" indent="0">
              <a:buNone/>
            </a:pPr>
            <a:endParaRPr lang="en-IN" b="1" dirty="0"/>
          </a:p>
          <a:p>
            <a:pPr marL="0" indent="0">
              <a:buNone/>
            </a:pPr>
            <a:r>
              <a:rPr lang="en-IN" b="1" dirty="0"/>
              <a:t>GSM SIM800L module</a:t>
            </a:r>
          </a:p>
          <a:p>
            <a:pPr marL="0" indent="0">
              <a:buNone/>
            </a:pPr>
            <a:r>
              <a:rPr lang="en-IN" dirty="0"/>
              <a:t>GSM SIM800L is a popular module that enables communication over GSM (Global System for Mobile Communications) networks. It provides functionalities for making calls, sending and receiving SMS messages, and connecting to the internet.</a:t>
            </a:r>
          </a:p>
          <a:p>
            <a:endParaRPr lang="en-IN" dirty="0"/>
          </a:p>
          <a:p>
            <a:pPr marL="0" indent="0">
              <a:buNone/>
            </a:pPr>
            <a:endParaRPr lang="en-IN" b="1" dirty="0"/>
          </a:p>
          <a:p>
            <a:pPr marL="0" indent="0">
              <a:buNone/>
            </a:pPr>
            <a:r>
              <a:rPr lang="en-IN" dirty="0"/>
              <a:t/>
            </a:r>
            <a:br>
              <a:rPr lang="en-IN" dirty="0"/>
            </a:br>
            <a:endParaRPr lang="en-IN" dirty="0"/>
          </a:p>
        </p:txBody>
      </p:sp>
    </p:spTree>
    <p:extLst>
      <p:ext uri="{BB962C8B-B14F-4D97-AF65-F5344CB8AC3E}">
        <p14:creationId xmlns:p14="http://schemas.microsoft.com/office/powerpoint/2010/main" val="3118502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Elbow Connector 32"/>
          <p:cNvCxnSpPr/>
          <p:nvPr/>
        </p:nvCxnSpPr>
        <p:spPr>
          <a:xfrm flipV="1">
            <a:off x="4319640" y="4602978"/>
            <a:ext cx="1332772" cy="102641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463616" y="328546"/>
            <a:ext cx="8911687" cy="1280890"/>
          </a:xfrm>
        </p:spPr>
        <p:txBody>
          <a:bodyPr>
            <a:normAutofit/>
          </a:bodyPr>
          <a:lstStyle/>
          <a:p>
            <a:r>
              <a:rPr lang="en-IN" sz="3200" b="1" dirty="0" smtClean="0"/>
              <a:t>Block diagram</a:t>
            </a:r>
            <a:endParaRPr lang="en-IN" sz="3200" b="1" dirty="0"/>
          </a:p>
        </p:txBody>
      </p:sp>
      <p:sp>
        <p:nvSpPr>
          <p:cNvPr id="9" name="Rectangle 8"/>
          <p:cNvSpPr/>
          <p:nvPr/>
        </p:nvSpPr>
        <p:spPr>
          <a:xfrm>
            <a:off x="5643417" y="1764146"/>
            <a:ext cx="1948873" cy="303876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8793018" y="1274618"/>
            <a:ext cx="1126837" cy="12007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p:cNvPicPr>
            <a:picLocks noChangeAspect="1"/>
          </p:cNvPicPr>
          <p:nvPr/>
        </p:nvPicPr>
        <p:blipFill>
          <a:blip r:embed="rId2"/>
          <a:stretch>
            <a:fillRect/>
          </a:stretch>
        </p:blipFill>
        <p:spPr>
          <a:xfrm>
            <a:off x="8834162" y="3121511"/>
            <a:ext cx="1146147" cy="1219306"/>
          </a:xfrm>
          <a:prstGeom prst="rect">
            <a:avLst/>
          </a:prstGeom>
        </p:spPr>
      </p:pic>
      <p:pic>
        <p:nvPicPr>
          <p:cNvPr id="12" name="Picture 11"/>
          <p:cNvPicPr>
            <a:picLocks noChangeAspect="1"/>
          </p:cNvPicPr>
          <p:nvPr/>
        </p:nvPicPr>
        <p:blipFill>
          <a:blip r:embed="rId2"/>
          <a:stretch>
            <a:fillRect/>
          </a:stretch>
        </p:blipFill>
        <p:spPr>
          <a:xfrm>
            <a:off x="8834162" y="5243239"/>
            <a:ext cx="1146147" cy="1219306"/>
          </a:xfrm>
          <a:prstGeom prst="rect">
            <a:avLst/>
          </a:prstGeom>
        </p:spPr>
      </p:pic>
      <p:pic>
        <p:nvPicPr>
          <p:cNvPr id="13" name="Picture 12"/>
          <p:cNvPicPr>
            <a:picLocks noChangeAspect="1"/>
          </p:cNvPicPr>
          <p:nvPr/>
        </p:nvPicPr>
        <p:blipFill>
          <a:blip r:embed="rId2"/>
          <a:stretch>
            <a:fillRect/>
          </a:stretch>
        </p:blipFill>
        <p:spPr>
          <a:xfrm>
            <a:off x="6009515" y="5243239"/>
            <a:ext cx="1146147" cy="1219306"/>
          </a:xfrm>
          <a:prstGeom prst="rect">
            <a:avLst/>
          </a:prstGeom>
        </p:spPr>
      </p:pic>
      <p:pic>
        <p:nvPicPr>
          <p:cNvPr id="14" name="Picture 13"/>
          <p:cNvPicPr>
            <a:picLocks noChangeAspect="1"/>
          </p:cNvPicPr>
          <p:nvPr/>
        </p:nvPicPr>
        <p:blipFill>
          <a:blip r:embed="rId2"/>
          <a:stretch>
            <a:fillRect/>
          </a:stretch>
        </p:blipFill>
        <p:spPr>
          <a:xfrm>
            <a:off x="3199753" y="1426958"/>
            <a:ext cx="1146147" cy="1219306"/>
          </a:xfrm>
          <a:prstGeom prst="rect">
            <a:avLst/>
          </a:prstGeom>
        </p:spPr>
      </p:pic>
      <p:pic>
        <p:nvPicPr>
          <p:cNvPr id="15" name="Picture 14"/>
          <p:cNvPicPr>
            <a:picLocks noChangeAspect="1"/>
          </p:cNvPicPr>
          <p:nvPr/>
        </p:nvPicPr>
        <p:blipFill>
          <a:blip r:embed="rId2"/>
          <a:stretch>
            <a:fillRect/>
          </a:stretch>
        </p:blipFill>
        <p:spPr>
          <a:xfrm>
            <a:off x="3184868" y="3333272"/>
            <a:ext cx="1146147" cy="1219306"/>
          </a:xfrm>
          <a:prstGeom prst="rect">
            <a:avLst/>
          </a:prstGeom>
        </p:spPr>
      </p:pic>
      <p:pic>
        <p:nvPicPr>
          <p:cNvPr id="16" name="Picture 15"/>
          <p:cNvPicPr>
            <a:picLocks noChangeAspect="1"/>
          </p:cNvPicPr>
          <p:nvPr/>
        </p:nvPicPr>
        <p:blipFill>
          <a:blip r:embed="rId2"/>
          <a:stretch>
            <a:fillRect/>
          </a:stretch>
        </p:blipFill>
        <p:spPr>
          <a:xfrm>
            <a:off x="3173493" y="5227528"/>
            <a:ext cx="1146147" cy="1219306"/>
          </a:xfrm>
          <a:prstGeom prst="rect">
            <a:avLst/>
          </a:prstGeom>
        </p:spPr>
      </p:pic>
      <p:sp>
        <p:nvSpPr>
          <p:cNvPr id="18" name="TextBox 17"/>
          <p:cNvSpPr txBox="1"/>
          <p:nvPr/>
        </p:nvSpPr>
        <p:spPr>
          <a:xfrm>
            <a:off x="5956210" y="2629153"/>
            <a:ext cx="1546370" cy="954107"/>
          </a:xfrm>
          <a:prstGeom prst="rect">
            <a:avLst/>
          </a:prstGeom>
          <a:noFill/>
        </p:spPr>
        <p:txBody>
          <a:bodyPr wrap="square" rtlCol="0">
            <a:spAutoFit/>
          </a:bodyPr>
          <a:lstStyle/>
          <a:p>
            <a:r>
              <a:rPr lang="en-IN" sz="2800" b="1" dirty="0" smtClean="0"/>
              <a:t>Arduino UNO</a:t>
            </a:r>
            <a:endParaRPr lang="en-IN" sz="2800" b="1" dirty="0"/>
          </a:p>
        </p:txBody>
      </p:sp>
      <p:sp>
        <p:nvSpPr>
          <p:cNvPr id="19" name="TextBox 18"/>
          <p:cNvSpPr txBox="1"/>
          <p:nvPr/>
        </p:nvSpPr>
        <p:spPr>
          <a:xfrm>
            <a:off x="3327662" y="1764146"/>
            <a:ext cx="991978" cy="646331"/>
          </a:xfrm>
          <a:prstGeom prst="rect">
            <a:avLst/>
          </a:prstGeom>
          <a:noFill/>
        </p:spPr>
        <p:txBody>
          <a:bodyPr wrap="square" rtlCol="0">
            <a:spAutoFit/>
          </a:bodyPr>
          <a:lstStyle/>
          <a:p>
            <a:r>
              <a:rPr lang="en-IN" b="1" dirty="0" err="1" smtClean="0">
                <a:solidFill>
                  <a:schemeClr val="bg1"/>
                </a:solidFill>
              </a:rPr>
              <a:t>Lcd</a:t>
            </a:r>
            <a:r>
              <a:rPr lang="en-IN" b="1" dirty="0" smtClean="0">
                <a:solidFill>
                  <a:schemeClr val="bg1"/>
                </a:solidFill>
              </a:rPr>
              <a:t> </a:t>
            </a:r>
          </a:p>
          <a:p>
            <a:r>
              <a:rPr lang="en-IN" b="1" dirty="0" smtClean="0">
                <a:solidFill>
                  <a:schemeClr val="bg1"/>
                </a:solidFill>
              </a:rPr>
              <a:t>display</a:t>
            </a:r>
            <a:endParaRPr lang="en-IN" b="1" dirty="0">
              <a:solidFill>
                <a:schemeClr val="bg1"/>
              </a:solidFill>
            </a:endParaRPr>
          </a:p>
        </p:txBody>
      </p:sp>
      <p:sp>
        <p:nvSpPr>
          <p:cNvPr id="20" name="TextBox 19"/>
          <p:cNvSpPr txBox="1"/>
          <p:nvPr/>
        </p:nvSpPr>
        <p:spPr>
          <a:xfrm>
            <a:off x="3273819" y="3487982"/>
            <a:ext cx="1057195" cy="646331"/>
          </a:xfrm>
          <a:prstGeom prst="rect">
            <a:avLst/>
          </a:prstGeom>
          <a:noFill/>
        </p:spPr>
        <p:txBody>
          <a:bodyPr wrap="square" rtlCol="0">
            <a:spAutoFit/>
          </a:bodyPr>
          <a:lstStyle/>
          <a:p>
            <a:r>
              <a:rPr lang="en-IN" b="1" dirty="0" smtClean="0">
                <a:solidFill>
                  <a:schemeClr val="bg1"/>
                </a:solidFill>
              </a:rPr>
              <a:t>9v battery</a:t>
            </a:r>
            <a:endParaRPr lang="en-IN" b="1" dirty="0">
              <a:solidFill>
                <a:schemeClr val="bg1"/>
              </a:solidFill>
            </a:endParaRPr>
          </a:p>
        </p:txBody>
      </p:sp>
      <p:sp>
        <p:nvSpPr>
          <p:cNvPr id="21" name="TextBox 20"/>
          <p:cNvSpPr txBox="1"/>
          <p:nvPr/>
        </p:nvSpPr>
        <p:spPr>
          <a:xfrm>
            <a:off x="6085147" y="5514016"/>
            <a:ext cx="1065414" cy="646331"/>
          </a:xfrm>
          <a:prstGeom prst="rect">
            <a:avLst/>
          </a:prstGeom>
          <a:noFill/>
        </p:spPr>
        <p:txBody>
          <a:bodyPr wrap="square" rtlCol="0">
            <a:spAutoFit/>
          </a:bodyPr>
          <a:lstStyle/>
          <a:p>
            <a:r>
              <a:rPr lang="en-IN" b="1" dirty="0" smtClean="0">
                <a:solidFill>
                  <a:schemeClr val="bg1"/>
                </a:solidFill>
              </a:rPr>
              <a:t>Relay module</a:t>
            </a:r>
            <a:endParaRPr lang="en-IN" b="1" dirty="0">
              <a:solidFill>
                <a:schemeClr val="bg1"/>
              </a:solidFill>
            </a:endParaRPr>
          </a:p>
        </p:txBody>
      </p:sp>
      <p:sp>
        <p:nvSpPr>
          <p:cNvPr id="22" name="TextBox 21"/>
          <p:cNvSpPr txBox="1"/>
          <p:nvPr/>
        </p:nvSpPr>
        <p:spPr>
          <a:xfrm>
            <a:off x="8793018" y="1506436"/>
            <a:ext cx="1126837" cy="646331"/>
          </a:xfrm>
          <a:prstGeom prst="rect">
            <a:avLst/>
          </a:prstGeom>
          <a:noFill/>
        </p:spPr>
        <p:txBody>
          <a:bodyPr wrap="square" rtlCol="0">
            <a:spAutoFit/>
          </a:bodyPr>
          <a:lstStyle/>
          <a:p>
            <a:r>
              <a:rPr lang="en-IN" b="1" dirty="0" smtClean="0">
                <a:solidFill>
                  <a:schemeClr val="bg1"/>
                </a:solidFill>
              </a:rPr>
              <a:t>4x4 </a:t>
            </a:r>
          </a:p>
          <a:p>
            <a:r>
              <a:rPr lang="en-IN" b="1" dirty="0" smtClean="0">
                <a:solidFill>
                  <a:schemeClr val="bg1"/>
                </a:solidFill>
              </a:rPr>
              <a:t>keypad</a:t>
            </a:r>
            <a:endParaRPr lang="en-IN" b="1" dirty="0">
              <a:solidFill>
                <a:schemeClr val="bg1"/>
              </a:solidFill>
            </a:endParaRPr>
          </a:p>
        </p:txBody>
      </p:sp>
      <p:sp>
        <p:nvSpPr>
          <p:cNvPr id="23" name="TextBox 22"/>
          <p:cNvSpPr txBox="1"/>
          <p:nvPr/>
        </p:nvSpPr>
        <p:spPr>
          <a:xfrm>
            <a:off x="8793018" y="3320029"/>
            <a:ext cx="1480203" cy="923330"/>
          </a:xfrm>
          <a:prstGeom prst="rect">
            <a:avLst/>
          </a:prstGeom>
          <a:noFill/>
        </p:spPr>
        <p:txBody>
          <a:bodyPr wrap="square" rtlCol="0">
            <a:spAutoFit/>
          </a:bodyPr>
          <a:lstStyle/>
          <a:p>
            <a:r>
              <a:rPr lang="en-IN" b="1" dirty="0" smtClean="0">
                <a:solidFill>
                  <a:schemeClr val="bg1"/>
                </a:solidFill>
              </a:rPr>
              <a:t>SIM800L</a:t>
            </a:r>
          </a:p>
          <a:p>
            <a:r>
              <a:rPr lang="en-IN" b="1" dirty="0" smtClean="0">
                <a:solidFill>
                  <a:schemeClr val="bg1"/>
                </a:solidFill>
              </a:rPr>
              <a:t>GSM Module</a:t>
            </a:r>
            <a:endParaRPr lang="en-IN" b="1" dirty="0">
              <a:solidFill>
                <a:schemeClr val="bg1"/>
              </a:solidFill>
            </a:endParaRPr>
          </a:p>
        </p:txBody>
      </p:sp>
      <p:sp>
        <p:nvSpPr>
          <p:cNvPr id="24" name="TextBox 23"/>
          <p:cNvSpPr txBox="1"/>
          <p:nvPr/>
        </p:nvSpPr>
        <p:spPr>
          <a:xfrm>
            <a:off x="8845537" y="5514016"/>
            <a:ext cx="1288796" cy="646331"/>
          </a:xfrm>
          <a:prstGeom prst="rect">
            <a:avLst/>
          </a:prstGeom>
          <a:noFill/>
        </p:spPr>
        <p:txBody>
          <a:bodyPr wrap="square" rtlCol="0">
            <a:spAutoFit/>
          </a:bodyPr>
          <a:lstStyle/>
          <a:p>
            <a:r>
              <a:rPr lang="en-IN" b="1" dirty="0" smtClean="0">
                <a:solidFill>
                  <a:schemeClr val="bg1"/>
                </a:solidFill>
              </a:rPr>
              <a:t>Solenoid lock</a:t>
            </a:r>
            <a:endParaRPr lang="en-IN" b="1" dirty="0">
              <a:solidFill>
                <a:schemeClr val="bg1"/>
              </a:solidFill>
            </a:endParaRPr>
          </a:p>
        </p:txBody>
      </p:sp>
      <p:sp>
        <p:nvSpPr>
          <p:cNvPr id="25" name="TextBox 24"/>
          <p:cNvSpPr txBox="1"/>
          <p:nvPr/>
        </p:nvSpPr>
        <p:spPr>
          <a:xfrm>
            <a:off x="3327662" y="5514016"/>
            <a:ext cx="991978" cy="646331"/>
          </a:xfrm>
          <a:prstGeom prst="rect">
            <a:avLst/>
          </a:prstGeom>
          <a:noFill/>
        </p:spPr>
        <p:txBody>
          <a:bodyPr wrap="square" rtlCol="0">
            <a:spAutoFit/>
          </a:bodyPr>
          <a:lstStyle/>
          <a:p>
            <a:r>
              <a:rPr lang="en-IN" b="1" dirty="0" smtClean="0">
                <a:solidFill>
                  <a:schemeClr val="bg1"/>
                </a:solidFill>
              </a:rPr>
              <a:t>IR sensor</a:t>
            </a:r>
            <a:endParaRPr lang="en-IN" b="1" dirty="0">
              <a:solidFill>
                <a:schemeClr val="bg1"/>
              </a:solidFill>
            </a:endParaRPr>
          </a:p>
        </p:txBody>
      </p:sp>
      <p:cxnSp>
        <p:nvCxnSpPr>
          <p:cNvPr id="27" name="Straight Arrow Connector 26"/>
          <p:cNvCxnSpPr/>
          <p:nvPr/>
        </p:nvCxnSpPr>
        <p:spPr>
          <a:xfrm>
            <a:off x="4345900" y="2152767"/>
            <a:ext cx="1286142" cy="72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0" idx="3"/>
          </p:cNvCxnSpPr>
          <p:nvPr/>
        </p:nvCxnSpPr>
        <p:spPr>
          <a:xfrm flipV="1">
            <a:off x="4331014" y="3811147"/>
            <a:ext cx="131240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p:cNvCxnSpPr/>
          <p:nvPr/>
        </p:nvCxnSpPr>
        <p:spPr>
          <a:xfrm rot="10800000">
            <a:off x="7592291" y="3487982"/>
            <a:ext cx="1253247" cy="127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22" idx="1"/>
          </p:cNvCxnSpPr>
          <p:nvPr/>
        </p:nvCxnSpPr>
        <p:spPr>
          <a:xfrm flipH="1">
            <a:off x="7586603" y="1829602"/>
            <a:ext cx="1206415" cy="451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V="1">
            <a:off x="6721311" y="4810764"/>
            <a:ext cx="32584" cy="4167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H="1">
            <a:off x="7150561" y="5637229"/>
            <a:ext cx="16949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61545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400" b="1" dirty="0" smtClean="0"/>
              <a:t>Results</a:t>
            </a:r>
            <a:endParaRPr lang="en-IN" sz="4400" b="1" dirty="0"/>
          </a:p>
        </p:txBody>
      </p:sp>
      <p:sp>
        <p:nvSpPr>
          <p:cNvPr id="3" name="Content Placeholder 2"/>
          <p:cNvSpPr>
            <a:spLocks noGrp="1"/>
          </p:cNvSpPr>
          <p:nvPr>
            <p:ph idx="1"/>
          </p:nvPr>
        </p:nvSpPr>
        <p:spPr>
          <a:xfrm>
            <a:off x="2589212" y="1717963"/>
            <a:ext cx="8915400" cy="4294909"/>
          </a:xfrm>
        </p:spPr>
        <p:txBody>
          <a:bodyPr>
            <a:normAutofit/>
          </a:bodyPr>
          <a:lstStyle/>
          <a:p>
            <a:pPr marL="0" indent="0">
              <a:buNone/>
            </a:pPr>
            <a:r>
              <a:rPr lang="en-US" dirty="0"/>
              <a:t>The system prompt the user to enter a valid OTP to gain access. The OTP is be generated through a mobile app. The Arduino board utilizes Bluetooth to receive the OTP from a smartphone The Arduino board will verify the received OTP against a pre-shared secret or a database of valid OTPs</a:t>
            </a:r>
            <a:r>
              <a:rPr lang="en-US" dirty="0" smtClean="0"/>
              <a:t>.</a:t>
            </a:r>
          </a:p>
          <a:p>
            <a:pPr marL="0" indent="0">
              <a:buNone/>
            </a:pPr>
            <a:r>
              <a:rPr lang="en-US" dirty="0" smtClean="0"/>
              <a:t> </a:t>
            </a:r>
            <a:r>
              <a:rPr lang="en-US" dirty="0"/>
              <a:t>If the OTP matches, the system will grant access by unlocking the door or activating an electronic lock mechanism. The system securely store the OTPs, ensuring that they are not easily accessible to unauthorized individuals. The system maintain a log of access attempts, including successful and unsuccessful ones. This log can be useful for monitoring and auditing purposes. </a:t>
            </a:r>
            <a:endParaRPr lang="en-US" dirty="0" smtClean="0"/>
          </a:p>
          <a:p>
            <a:pPr marL="0" indent="0">
              <a:buNone/>
            </a:pPr>
            <a:r>
              <a:rPr lang="en-US" dirty="0" smtClean="0"/>
              <a:t>This </a:t>
            </a:r>
            <a:r>
              <a:rPr lang="en-US" dirty="0"/>
              <a:t>system include features to add, modify, or remove users and their corresponding OTPs. This is achieved through a dedicated mobile application. The overall success of the OTP-based smart wireless locking system will depend on the implementation quality, security measures, and reliability of the hardware and software components </a:t>
            </a:r>
            <a:r>
              <a:rPr lang="en-US" dirty="0" smtClean="0"/>
              <a:t>involved</a:t>
            </a:r>
            <a:endParaRPr lang="en-IN" dirty="0"/>
          </a:p>
        </p:txBody>
      </p:sp>
    </p:spTree>
    <p:extLst>
      <p:ext uri="{BB962C8B-B14F-4D97-AF65-F5344CB8AC3E}">
        <p14:creationId xmlns:p14="http://schemas.microsoft.com/office/powerpoint/2010/main" val="3514844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800" b="1" dirty="0" smtClean="0"/>
              <a:t>Conclusion</a:t>
            </a:r>
            <a:endParaRPr lang="en-IN" sz="4800" b="1" dirty="0"/>
          </a:p>
        </p:txBody>
      </p:sp>
      <p:sp>
        <p:nvSpPr>
          <p:cNvPr id="3" name="Content Placeholder 2"/>
          <p:cNvSpPr>
            <a:spLocks noGrp="1"/>
          </p:cNvSpPr>
          <p:nvPr>
            <p:ph idx="1"/>
          </p:nvPr>
        </p:nvSpPr>
        <p:spPr>
          <a:xfrm>
            <a:off x="2589212" y="1607127"/>
            <a:ext cx="8915400" cy="4692073"/>
          </a:xfrm>
        </p:spPr>
        <p:txBody>
          <a:bodyPr>
            <a:normAutofit/>
          </a:bodyPr>
          <a:lstStyle/>
          <a:p>
            <a:pPr marL="0" indent="0">
              <a:buNone/>
            </a:pPr>
            <a:r>
              <a:rPr lang="en-US" dirty="0"/>
              <a:t>Many times we forgot to carry the key of our home. Or sometimes we come out of our home and door latch closes by mistake. In these cases it is really difficult to get inside the house . This project will help in keyless entry and at the same time will be more secure. </a:t>
            </a:r>
            <a:endParaRPr lang="en-US" dirty="0" smtClean="0"/>
          </a:p>
          <a:p>
            <a:pPr marL="0" indent="0">
              <a:buNone/>
            </a:pPr>
            <a:r>
              <a:rPr lang="en-US" dirty="0" smtClean="0"/>
              <a:t>This </a:t>
            </a:r>
            <a:r>
              <a:rPr lang="en-US" dirty="0"/>
              <a:t>idea will minimize the overall cost by the use Bluetooth instead of GSM (which charges for providing service).Smart door lock is one of the most popular digital consumer devices due to its ease of use and affordable price. In fact, it replaces many common types of locks</a:t>
            </a:r>
            <a:r>
              <a:rPr lang="en-US" dirty="0" smtClean="0"/>
              <a:t>.</a:t>
            </a:r>
          </a:p>
          <a:p>
            <a:pPr marL="0" indent="0">
              <a:buNone/>
            </a:pPr>
            <a:r>
              <a:rPr lang="en-US" dirty="0" smtClean="0"/>
              <a:t> </a:t>
            </a:r>
            <a:r>
              <a:rPr lang="en-US" dirty="0"/>
              <a:t>This is project is good enough to provide security as long as password not shared and project is completely based on Android platform which is free open source software, So implementation rate is also inexpensive and easy to install anywhere. Its main advantage is to open door lock using an android where password is encrypted and home owner’s mobile phone will be notified every time the door opens. Hence, the project can be achieved in lesser time compared to other techniques previously employed.</a:t>
            </a:r>
            <a:endParaRPr lang="en-IN" dirty="0"/>
          </a:p>
          <a:p>
            <a:endParaRPr lang="en-IN" dirty="0"/>
          </a:p>
        </p:txBody>
      </p:sp>
    </p:spTree>
    <p:extLst>
      <p:ext uri="{BB962C8B-B14F-4D97-AF65-F5344CB8AC3E}">
        <p14:creationId xmlns:p14="http://schemas.microsoft.com/office/powerpoint/2010/main" val="4032855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400" b="1" dirty="0" smtClean="0"/>
              <a:t>References</a:t>
            </a:r>
            <a:endParaRPr lang="en-IN" sz="4400" b="1" dirty="0"/>
          </a:p>
        </p:txBody>
      </p:sp>
      <p:sp>
        <p:nvSpPr>
          <p:cNvPr id="3" name="Content Placeholder 2"/>
          <p:cNvSpPr>
            <a:spLocks noGrp="1"/>
          </p:cNvSpPr>
          <p:nvPr>
            <p:ph idx="1"/>
          </p:nvPr>
        </p:nvSpPr>
        <p:spPr/>
        <p:txBody>
          <a:bodyPr/>
          <a:lstStyle/>
          <a:p>
            <a:r>
              <a:rPr lang="en-US" dirty="0"/>
              <a:t>[1] </a:t>
            </a:r>
            <a:r>
              <a:rPr lang="en-US" dirty="0" err="1"/>
              <a:t>Pradnya</a:t>
            </a:r>
            <a:r>
              <a:rPr lang="en-US" dirty="0"/>
              <a:t> R. </a:t>
            </a:r>
            <a:r>
              <a:rPr lang="en-US" dirty="0" err="1"/>
              <a:t>Nehete</a:t>
            </a:r>
            <a:r>
              <a:rPr lang="en-US" dirty="0"/>
              <a:t>, J. P. </a:t>
            </a:r>
            <a:r>
              <a:rPr lang="en-US" dirty="0" err="1"/>
              <a:t>Chaudhari,S</a:t>
            </a:r>
            <a:r>
              <a:rPr lang="en-US" dirty="0"/>
              <a:t>. R. </a:t>
            </a:r>
            <a:r>
              <a:rPr lang="en-US" dirty="0" err="1"/>
              <a:t>Pachpande</a:t>
            </a:r>
            <a:r>
              <a:rPr lang="en-US" dirty="0"/>
              <a:t> Door lock security systems</a:t>
            </a:r>
            <a:endParaRPr lang="en-IN" dirty="0"/>
          </a:p>
          <a:p>
            <a:r>
              <a:rPr lang="en-US" dirty="0"/>
              <a:t> [2] Mr. </a:t>
            </a:r>
            <a:r>
              <a:rPr lang="en-US" dirty="0" err="1"/>
              <a:t>Patil</a:t>
            </a:r>
            <a:r>
              <a:rPr lang="en-US" dirty="0"/>
              <a:t> </a:t>
            </a:r>
            <a:r>
              <a:rPr lang="en-US" dirty="0" err="1"/>
              <a:t>Bhushan</a:t>
            </a:r>
            <a:r>
              <a:rPr lang="en-US" dirty="0"/>
              <a:t>, Mr. Mahajan Vishal, Mr. </a:t>
            </a:r>
            <a:r>
              <a:rPr lang="en-US" dirty="0" err="1"/>
              <a:t>Pawar</a:t>
            </a:r>
            <a:r>
              <a:rPr lang="en-US" dirty="0"/>
              <a:t> </a:t>
            </a:r>
            <a:r>
              <a:rPr lang="en-US" dirty="0" err="1"/>
              <a:t>Mayur</a:t>
            </a:r>
            <a:r>
              <a:rPr lang="en-US" dirty="0"/>
              <a:t> Automatic door lock system</a:t>
            </a:r>
            <a:endParaRPr lang="en-IN" dirty="0"/>
          </a:p>
          <a:p>
            <a:r>
              <a:rPr lang="en-US" dirty="0"/>
              <a:t> [3] S. </a:t>
            </a:r>
            <a:r>
              <a:rPr lang="en-US" dirty="0" err="1"/>
              <a:t>Umbarkar</a:t>
            </a:r>
            <a:r>
              <a:rPr lang="en-US" dirty="0"/>
              <a:t>, G. Rajput, S. </a:t>
            </a:r>
            <a:r>
              <a:rPr lang="en-US" dirty="0" err="1"/>
              <a:t>Halder</a:t>
            </a:r>
            <a:r>
              <a:rPr lang="en-US" dirty="0"/>
              <a:t>, P. </a:t>
            </a:r>
            <a:r>
              <a:rPr lang="en-US" dirty="0" err="1"/>
              <a:t>Harname</a:t>
            </a:r>
            <a:r>
              <a:rPr lang="en-US" dirty="0"/>
              <a:t> and S. </a:t>
            </a:r>
            <a:r>
              <a:rPr lang="en-US" dirty="0" err="1"/>
              <a:t>Mendgudle</a:t>
            </a:r>
            <a:r>
              <a:rPr lang="en-US" dirty="0"/>
              <a:t> Automatic door lock system </a:t>
            </a:r>
            <a:endParaRPr lang="en-IN" dirty="0"/>
          </a:p>
          <a:p>
            <a:r>
              <a:rPr lang="en-US" dirty="0"/>
              <a:t>[4] </a:t>
            </a:r>
            <a:r>
              <a:rPr lang="en-US" dirty="0" err="1"/>
              <a:t>Aishwarya</a:t>
            </a:r>
            <a:r>
              <a:rPr lang="en-US" dirty="0"/>
              <a:t> I P A survey on smart door lock security methodologies</a:t>
            </a:r>
            <a:endParaRPr lang="en-IN" dirty="0"/>
          </a:p>
          <a:p>
            <a:r>
              <a:rPr lang="en-US" dirty="0"/>
              <a:t> [5] </a:t>
            </a:r>
            <a:r>
              <a:rPr lang="en-US" dirty="0" err="1"/>
              <a:t>Snehalata</a:t>
            </a:r>
            <a:r>
              <a:rPr lang="en-US" dirty="0"/>
              <a:t> </a:t>
            </a:r>
            <a:r>
              <a:rPr lang="en-US" dirty="0" err="1"/>
              <a:t>Raut</a:t>
            </a:r>
            <a:r>
              <a:rPr lang="en-US" dirty="0"/>
              <a:t>, Dimple </a:t>
            </a:r>
            <a:r>
              <a:rPr lang="en-US" dirty="0" err="1"/>
              <a:t>chapke</a:t>
            </a:r>
            <a:r>
              <a:rPr lang="en-US" dirty="0"/>
              <a:t> , </a:t>
            </a:r>
            <a:r>
              <a:rPr lang="en-US" dirty="0" err="1"/>
              <a:t>Akash</a:t>
            </a:r>
            <a:r>
              <a:rPr lang="en-US" dirty="0"/>
              <a:t> </a:t>
            </a:r>
            <a:r>
              <a:rPr lang="en-US" dirty="0" err="1"/>
              <a:t>Sontakke</a:t>
            </a:r>
            <a:r>
              <a:rPr lang="en-US" dirty="0"/>
              <a:t> , </a:t>
            </a:r>
            <a:r>
              <a:rPr lang="en-US" dirty="0" err="1"/>
              <a:t>Nayan</a:t>
            </a:r>
            <a:r>
              <a:rPr lang="en-US" dirty="0"/>
              <a:t> </a:t>
            </a:r>
            <a:r>
              <a:rPr lang="en-US" dirty="0" err="1"/>
              <a:t>Pounikar</a:t>
            </a:r>
            <a:r>
              <a:rPr lang="en-US" dirty="0"/>
              <a:t> , Prof. Neha </a:t>
            </a:r>
            <a:r>
              <a:rPr lang="en-US" dirty="0" err="1"/>
              <a:t>Israni</a:t>
            </a:r>
            <a:r>
              <a:rPr lang="en-US" dirty="0"/>
              <a:t> Door automation security system using OTP. </a:t>
            </a:r>
            <a:endParaRPr lang="en-IN" dirty="0"/>
          </a:p>
          <a:p>
            <a:endParaRPr lang="en-IN" dirty="0"/>
          </a:p>
        </p:txBody>
      </p:sp>
    </p:spTree>
    <p:extLst>
      <p:ext uri="{BB962C8B-B14F-4D97-AF65-F5344CB8AC3E}">
        <p14:creationId xmlns:p14="http://schemas.microsoft.com/office/powerpoint/2010/main" val="3471557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0816" y="1750947"/>
            <a:ext cx="8911687" cy="1280890"/>
          </a:xfrm>
        </p:spPr>
        <p:txBody>
          <a:bodyPr>
            <a:noAutofit/>
          </a:bodyPr>
          <a:lstStyle/>
          <a:p>
            <a:pPr algn="ctr"/>
            <a:r>
              <a:rPr lang="en-IN" sz="9600" b="1" dirty="0" smtClean="0"/>
              <a:t>THANK</a:t>
            </a:r>
            <a:br>
              <a:rPr lang="en-IN" sz="9600" b="1" dirty="0" smtClean="0"/>
            </a:br>
            <a:r>
              <a:rPr lang="en-IN" sz="9600" b="1" dirty="0" smtClean="0"/>
              <a:t> YOU</a:t>
            </a:r>
            <a:endParaRPr lang="en-IN" sz="9600" b="1" dirty="0"/>
          </a:p>
        </p:txBody>
      </p:sp>
    </p:spTree>
    <p:extLst>
      <p:ext uri="{BB962C8B-B14F-4D97-AF65-F5344CB8AC3E}">
        <p14:creationId xmlns:p14="http://schemas.microsoft.com/office/powerpoint/2010/main" val="350417872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269</TotalTime>
  <Words>1155</Words>
  <Application>Microsoft Office PowerPoint</Application>
  <PresentationFormat>Widescreen</PresentationFormat>
  <Paragraphs>76</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Century Gothic</vt:lpstr>
      <vt:lpstr>Wingdings 3</vt:lpstr>
      <vt:lpstr>Wisp</vt:lpstr>
      <vt:lpstr>INTERNSHIP PRESENTATION</vt:lpstr>
      <vt:lpstr>Company: veblogy innovative technology pvt ltd  duration of internship: 1 month  Worked under: Manoj Gunjikar(Team leader)</vt:lpstr>
      <vt:lpstr>Learnings</vt:lpstr>
      <vt:lpstr> OTP Based smart locking system using Arduino.</vt:lpstr>
      <vt:lpstr>Introduction:</vt:lpstr>
      <vt:lpstr>PowerPoint Presentation</vt:lpstr>
      <vt:lpstr>PowerPoint Presentation</vt:lpstr>
      <vt:lpstr>Components required:</vt:lpstr>
      <vt:lpstr>Block diagram</vt:lpstr>
      <vt:lpstr>Results</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INTERNSHIP PRESENTATION</dc:title>
  <dc:creator>Windows User</dc:creator>
  <cp:lastModifiedBy>Windows User</cp:lastModifiedBy>
  <cp:revision>12</cp:revision>
  <dcterms:created xsi:type="dcterms:W3CDTF">2025-03-19T13:08:26Z</dcterms:created>
  <dcterms:modified xsi:type="dcterms:W3CDTF">2025-03-20T08:15:16Z</dcterms:modified>
</cp:coreProperties>
</file>